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  <p:embeddedFont>
      <p:font typeface="Caveat"/>
      <p:regular r:id="rId20"/>
      <p:bold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aveat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Caveat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463eb3da6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463eb3da6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463eb3da6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463eb3da6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463eb3da62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463eb3da62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463eb3da62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463eb3da62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463eb3da6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463eb3da6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463eb3da62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463eb3da62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463eb3da6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463eb3da6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463eb3da62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463eb3da62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463eb3da62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463eb3da62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1F1F1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072000" y="217155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 Agents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3830550" y="3466075"/>
            <a:ext cx="148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By Rohit Mishra</a:t>
            </a:r>
            <a:endParaRPr sz="18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/>
        </p:nvSpPr>
        <p:spPr>
          <a:xfrm>
            <a:off x="911100" y="426275"/>
            <a:ext cx="6867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Large Language Models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2763" y="1819825"/>
            <a:ext cx="6636085" cy="3018875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3586550" y="1019425"/>
            <a:ext cx="16125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(</a:t>
            </a: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भाषा)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/>
        </p:nvSpPr>
        <p:spPr>
          <a:xfrm>
            <a:off x="917475" y="361450"/>
            <a:ext cx="4809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 Source </a:t>
            </a: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5075" y="1161850"/>
            <a:ext cx="7710600" cy="37736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/>
        </p:nvSpPr>
        <p:spPr>
          <a:xfrm>
            <a:off x="470375" y="37100"/>
            <a:ext cx="81021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Open Source LLMs on groq cloud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10713" y="1777450"/>
            <a:ext cx="4122580" cy="306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24025" y="619125"/>
            <a:ext cx="5695950" cy="39052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80" name="Google Shape;80;p17"/>
          <p:cNvCxnSpPr/>
          <p:nvPr/>
        </p:nvCxnSpPr>
        <p:spPr>
          <a:xfrm rot="10800000">
            <a:off x="3289950" y="2326300"/>
            <a:ext cx="695100" cy="46200"/>
          </a:xfrm>
          <a:prstGeom prst="straightConnector1">
            <a:avLst/>
          </a:prstGeom>
          <a:noFill/>
          <a:ln cap="flat" cmpd="sng" w="9525">
            <a:solidFill>
              <a:srgbClr val="D8D8D8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1" name="Google Shape;81;p17"/>
          <p:cNvSpPr txBox="1"/>
          <p:nvPr/>
        </p:nvSpPr>
        <p:spPr>
          <a:xfrm>
            <a:off x="3595875" y="2203150"/>
            <a:ext cx="6339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B7D4A8"/>
                </a:solidFill>
                <a:latin typeface="Courier New"/>
                <a:ea typeface="Courier New"/>
                <a:cs typeface="Courier New"/>
                <a:sym typeface="Courier New"/>
              </a:rPr>
              <a:t>    {“role”: “user”,”content”: “what is capital of france”}</a:t>
            </a:r>
            <a:endParaRPr b="1" sz="1000">
              <a:solidFill>
                <a:srgbClr val="B7D4A8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95488" y="1271588"/>
            <a:ext cx="5153025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462088" y="1262063"/>
            <a:ext cx="6219825" cy="2619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9"/>
          <p:cNvSpPr txBox="1"/>
          <p:nvPr/>
        </p:nvSpPr>
        <p:spPr>
          <a:xfrm>
            <a:off x="0" y="117575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Limitation of </a:t>
            </a: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LLMs </a:t>
            </a:r>
            <a:endParaRPr b="1" sz="4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" name="Google Shape;93;p19"/>
          <p:cNvSpPr txBox="1"/>
          <p:nvPr/>
        </p:nvSpPr>
        <p:spPr>
          <a:xfrm>
            <a:off x="2931350" y="202210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Context</a:t>
            </a:r>
            <a:endParaRPr sz="4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94" name="Google Shape;94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5850" y="1509713"/>
            <a:ext cx="2095500" cy="2124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5" name="Google Shape;95;p19"/>
          <p:cNvCxnSpPr/>
          <p:nvPr/>
        </p:nvCxnSpPr>
        <p:spPr>
          <a:xfrm flipH="1" rot="10800000">
            <a:off x="5338700" y="1763800"/>
            <a:ext cx="882000" cy="576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96" name="Google Shape;96;p19"/>
          <p:cNvCxnSpPr/>
          <p:nvPr/>
        </p:nvCxnSpPr>
        <p:spPr>
          <a:xfrm>
            <a:off x="5408775" y="2598400"/>
            <a:ext cx="764700" cy="553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7" name="Google Shape;97;p19"/>
          <p:cNvSpPr txBox="1"/>
          <p:nvPr/>
        </p:nvSpPr>
        <p:spPr>
          <a:xfrm>
            <a:off x="5596950" y="1221700"/>
            <a:ext cx="30000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Knowledge </a:t>
            </a:r>
            <a:r>
              <a:rPr lang="en" sz="4000">
                <a:solidFill>
                  <a:srgbClr val="999999"/>
                </a:solidFill>
                <a:latin typeface="Caveat"/>
                <a:ea typeface="Caveat"/>
                <a:cs typeface="Caveat"/>
                <a:sym typeface="Caveat"/>
              </a:rPr>
              <a:t>(RAG)</a:t>
            </a:r>
            <a:endParaRPr sz="4000">
              <a:solidFill>
                <a:srgbClr val="99999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8" name="Google Shape;98;p19"/>
          <p:cNvSpPr txBox="1"/>
          <p:nvPr/>
        </p:nvSpPr>
        <p:spPr>
          <a:xfrm>
            <a:off x="5256375" y="282250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Tools</a:t>
            </a:r>
            <a:endParaRPr sz="4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99" name="Google Shape;99;p19"/>
          <p:cNvSpPr txBox="1"/>
          <p:nvPr/>
        </p:nvSpPr>
        <p:spPr>
          <a:xfrm>
            <a:off x="5256375" y="3409900"/>
            <a:ext cx="300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rgbClr val="999999"/>
                </a:solidFill>
                <a:latin typeface="Caveat"/>
                <a:ea typeface="Caveat"/>
                <a:cs typeface="Caveat"/>
                <a:sym typeface="Caveat"/>
              </a:rPr>
              <a:t>(software)</a:t>
            </a:r>
            <a:endParaRPr sz="4000">
              <a:solidFill>
                <a:srgbClr val="999999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/>
        </p:nvSpPr>
        <p:spPr>
          <a:xfrm>
            <a:off x="0" y="117575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 Workflow </a:t>
            </a: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(using </a:t>
            </a: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LLM </a:t>
            </a: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)</a:t>
            </a:r>
            <a:endParaRPr b="1" sz="4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pic>
        <p:nvPicPr>
          <p:cNvPr id="105" name="Google Shape;105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5475" y="917975"/>
            <a:ext cx="5713055" cy="3920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/>
        </p:nvSpPr>
        <p:spPr>
          <a:xfrm>
            <a:off x="0" y="117575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AI</a:t>
            </a:r>
            <a:r>
              <a:rPr b="1" lang="en" sz="4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Agent </a:t>
            </a: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(using </a:t>
            </a: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LLM)</a:t>
            </a:r>
            <a:endParaRPr b="1" sz="4000">
              <a:solidFill>
                <a:schemeClr val="lt1"/>
              </a:solidFill>
              <a:latin typeface="Caveat"/>
              <a:ea typeface="Caveat"/>
              <a:cs typeface="Caveat"/>
              <a:sym typeface="Caveat"/>
            </a:endParaRPr>
          </a:p>
        </p:txBody>
      </p:sp>
      <p:sp>
        <p:nvSpPr>
          <p:cNvPr id="111" name="Google Shape;111;p21"/>
          <p:cNvSpPr txBox="1"/>
          <p:nvPr/>
        </p:nvSpPr>
        <p:spPr>
          <a:xfrm>
            <a:off x="883200" y="1364100"/>
            <a:ext cx="73776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900">
                <a:solidFill>
                  <a:schemeClr val="lt1"/>
                </a:solidFill>
              </a:rPr>
              <a:t>​हम पहले से यह नहीं बता सकते कि इस कार्य को पूरा करने में कितने चरण लगेंगे।​</a:t>
            </a:r>
            <a:endParaRPr b="1" sz="1900">
              <a:solidFill>
                <a:schemeClr val="lt1"/>
              </a:solidFill>
            </a:endParaRPr>
          </a:p>
        </p:txBody>
      </p:sp>
      <p:pic>
        <p:nvPicPr>
          <p:cNvPr id="112" name="Google Shape;11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71325" y="1841100"/>
            <a:ext cx="5801359" cy="2997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/>
        </p:nvSpPr>
        <p:spPr>
          <a:xfrm>
            <a:off x="1897800" y="2171550"/>
            <a:ext cx="53484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000">
                <a:solidFill>
                  <a:schemeClr val="lt1"/>
                </a:solidFill>
                <a:latin typeface="Caveat"/>
                <a:ea typeface="Caveat"/>
                <a:cs typeface="Caveat"/>
                <a:sym typeface="Caveat"/>
              </a:rPr>
              <a:t>Let’s implement an Agent….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